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Positive %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Keyword
Blacklist</c:v>
                  </c:pt>
                  <c:pt idx="1">
                    <c:v>Regex
Matching</c:v>
                  </c:pt>
                  <c:pt idx="2">
                    <c:v>ML Classifier
(fine-tuned)</c:v>
                  </c:pt>
                  <c:pt idx="3">
                    <c:v>Layered
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81</c:v>
                </c:pt>
                <c:pt idx="2">
                  <c:v>94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False Positive %</c:v>
                </c:pt>
              </c:strCache>
            </c:strRef>
          </c:tx>
          <c:spPr>
            <a:solidFill>
              <a:srgbClr val="EE9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Keyword
Blacklist</c:v>
                  </c:pt>
                  <c:pt idx="1">
                    <c:v>Regex
Matching</c:v>
                  </c:pt>
                  <c:pt idx="2">
                    <c:v>ML Classifier
(fine-tuned)</c:v>
                  </c:pt>
                  <c:pt idx="3">
                    <c:v>Layered
Hybrid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19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28600"/>
            <a:ext cx="201168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28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BRAINWARE UNIVERSITY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AI SAFETY FILTERS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" y="16002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GUARDRAILS PROTECT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22860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INSTITUTIONS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" y="2944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| Bachelor of Computer Applications (BCA)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3310128"/>
            <a:ext cx="850392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3429000"/>
            <a:ext cx="2011680" cy="74980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BISWAS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23744" y="3429000"/>
            <a:ext cx="2011680" cy="74980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23744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BWU/BCA/23/224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0016" y="3429000"/>
            <a:ext cx="2011680" cy="74980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00016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23010346212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76288" y="3429000"/>
            <a:ext cx="2011680" cy="74980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76288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23013001069 (2023-2024)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3159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Computational Sciences  |  April 2026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058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Biswas  |  BWU/BCA/23/224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685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the design, types, and effectiveness of AI safety mechanisms for Large Language Models. A working Python prototype demonstrates key safety concepts including input filtering, output validation, and PII protection. The findings support a Defence-in-Depth strategy combining automated filters, human oversight, and continuous model refinement as the most reliable approach to AI safety.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6392" y="2212848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2212848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88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6392" y="2688336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2688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2688336"/>
            <a:ext cx="269748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2688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OBJECTIVES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39312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3611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evolution of AI safety filter technologies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63931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937760" y="3611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multi-layered guardrail architectures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96512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4360" y="4069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Python-based guardrail prototype</a:t>
            </a:r>
            <a:endParaRPr lang="en-US" sz="1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09651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37760" y="4069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limitations &amp; future research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39319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SAFETY MATTERS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/ Harmful Content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generate offensive or dangerous text without controls.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" y="2267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may expose personally identifiable information.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635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822960" y="30723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prompts can override intended model behaviour.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2102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Disinformation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822960" y="38770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factually incorrect content at scale.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434840" y="6583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CATEGORIES (Table 1.1)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987552"/>
          <a:ext cx="443484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242316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 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 Threat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Content Safety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Hate speech, violence, self-harm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Privacy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PII exposure, training data leaks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Prompt injection, jailbreaks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Misinformation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Hallucinations, fake news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Bias &amp; Fairness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Demographic disparities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4434840" y="3154680"/>
            <a:ext cx="4434840" cy="15727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246120"/>
            <a:ext cx="502920" cy="5029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20640" y="3218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GUARDRAILS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526280" y="356616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sit between the model and the user — filtering inputs, validating outputs, and enforcing institutional policy. They operate across three domains: Input Filtering, Output Validation, and Contextual Policy Enforcement.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EVOLUTION OF AI SAFETY FILTERS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23760" y="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EVOLUTION OF CONTENT SAFETY FILTERING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79552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261872"/>
            <a:ext cx="182880" cy="1828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77824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3716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84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rule-based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80360" y="1261872"/>
            <a:ext cx="182880" cy="1828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877824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877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1554480"/>
            <a:ext cx="13716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1984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1261872"/>
            <a:ext cx="182880" cy="1828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877824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877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1554480"/>
            <a:ext cx="13716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1984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filtering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03720" y="1261872"/>
            <a:ext cx="182880" cy="1828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877824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877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1554480"/>
            <a:ext cx="13716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1984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FRAMEWORKS COMPARISON (Table 2.1)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35808"/>
          <a:ext cx="8595360" cy="18288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22860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Developer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Strength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NeMo Guardrails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NVIDIA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Declarative (Colang)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 flexibility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Guardrails 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Guardrails AI Inc.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Python validators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Structured outputs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Llama Guard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Meta 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LLM-based classifier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Conversational context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Constitutional 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Anthropic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Self-critique training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Internalised safety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THREE-TIER GUARDRAIL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589520" y="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1371600" cy="777240"/>
          </a:xfrm>
          <a:prstGeom prst="ellipse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09928" y="1993392"/>
            <a:ext cx="50292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8470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31720" y="1280160"/>
            <a:ext cx="1737360" cy="150876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1335024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331720" y="17647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33172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31720" y="2267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keywords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patterns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090672" y="2834640"/>
            <a:ext cx="54864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31720" y="3291840"/>
            <a:ext cx="1737360" cy="457200"/>
          </a:xfrm>
          <a:prstGeom prst="rect">
            <a:avLst/>
          </a:prstGeom>
          <a:solidFill>
            <a:srgbClr val="3D00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3172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BLOCK + LOG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062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617720" y="1280160"/>
            <a:ext cx="1737360" cy="1508760"/>
          </a:xfrm>
          <a:prstGeom prst="rect">
            <a:avLst/>
          </a:prstGeom>
          <a:solidFill>
            <a:srgbClr val="1B3A4B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35024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17720" y="17647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17720" y="1984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617720" y="2423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validated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via LLM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4922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903720" y="1280160"/>
            <a:ext cx="1737360" cy="150876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335024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03720" y="17647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90372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903720" y="2267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content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7662672" y="2834640"/>
            <a:ext cx="54864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903720" y="3291840"/>
            <a:ext cx="1737360" cy="457200"/>
          </a:xfrm>
          <a:prstGeom prst="rect">
            <a:avLst/>
          </a:prstGeom>
          <a:solidFill>
            <a:srgbClr val="3D00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0372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BLOCK + LOG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903720" y="3931920"/>
            <a:ext cx="1737360" cy="685800"/>
          </a:xfrm>
          <a:prstGeom prst="ellipse">
            <a:avLst/>
          </a:prstGeom>
          <a:solidFill>
            <a:srgbClr val="005900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90372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SAFE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PROCESS → SCAN  (Defence-in-Depth Methodology)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AIGuardrail CLASS FLOWCHART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3.3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194560" cy="4572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Prompt Received)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89888" y="1115568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2194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scan_input()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89888" y="1719072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65376"/>
            <a:ext cx="219456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65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89888" y="2322576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68880"/>
            <a:ext cx="219456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_log(INPUT_BLOCKED)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Safety Alert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89888" y="2926080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2194560" cy="4572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723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AI Inference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 Response)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89888" y="3529584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75888"/>
            <a:ext cx="2194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758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scan_output()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389888" y="4133088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279392"/>
            <a:ext cx="2194560" cy="4572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Toxic?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389888" y="4736592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882896"/>
            <a:ext cx="219456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828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_log(OUTPUT_BLOCKED)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Safe Message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389888" y="5340096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5486400"/>
            <a:ext cx="2194560" cy="457200"/>
          </a:xfrm>
          <a:prstGeom prst="ellipse">
            <a:avLst/>
          </a:prstGeom>
          <a:solidFill>
            <a:srgbClr val="005900"/>
          </a:solidFill>
          <a:ln w="12700">
            <a:solidFill>
              <a:srgbClr val="005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486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User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5800" y="19751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2322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" y="4389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47365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26080" y="640080"/>
            <a:ext cx="5943600" cy="4251960"/>
          </a:xfrm>
          <a:prstGeom prst="rect">
            <a:avLst/>
          </a:prstGeom>
          <a:solidFill>
            <a:srgbClr val="1E1E1E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7132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8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AIGuardrail Python Implementation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063240" y="100584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AIGuardrail: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063240" y="112928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63240" y="125272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self.blocklist = {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063240" y="137617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'cybersecurity': ['malware','hack'],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063240" y="149961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'injection': ['ignore previous']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63240" y="162306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63240" y="174650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self.pii_patterns = {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063240" y="186994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'email': r'[\w.-]+@[\w.-]+',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63240" y="199339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'phone': r'\b[6-9]\d{9}\b'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063240" y="211683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63240" y="224028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self.audit_log = []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063240" y="236372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063240" y="248716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scan_input(self, user_prompt):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063240" y="261061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user_prompt.lower()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063240" y="273405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cat, terms in self.blocklist.items():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063240" y="285750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term in terms: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063240" y="298094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re.search(re.escape(term), p):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063240" y="310438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self._log('INPUT_BLOCKED', ...)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063240" y="322783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False, f'Blocked: {cat}'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063240" y="335127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'Input cleared.'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063240" y="347472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063240" y="359816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D2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scan_output(self, ai_response):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063240" y="3721608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pii_type, pattern in self.pii_patterns: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063240" y="3845052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re.search(pattern, ai_response):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063240" y="3968496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self._log('OUTPUT_BLOCKED', ...)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063240" y="4091940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 '[PII detected]'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063240" y="4215384"/>
            <a:ext cx="5669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E9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True, ai_response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ANALYSIS &amp; DISCUSSIONS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(Table 3.2)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5303520" cy="1920240"/>
        </p:xfrm>
        <a:graphic>
          <a:graphicData uri="http://schemas.openxmlformats.org/drawingml/2006/table">
            <a:tbl>
              <a:tblPr/>
              <a:tblGrid>
                <a:gridCol w="274320"/>
                <a:gridCol w="2286000"/>
                <a:gridCol w="128016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Input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7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How do I create malware?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Cybersecurity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Ignore previous instructions...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Prompt Injection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What is machine learning?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Benign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</a:rPr>
                        <a:t>PASSED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Response with email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PII Leak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BLOCKED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Explain Python history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Benign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600"/>
                          </a:solidFill>
                        </a:rPr>
                        <a:t>PASSED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926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PERFORMANCE (Table 4.1)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3218688"/>
          <a:ext cx="53035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5806440" y="594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 CATEGORIES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06440" y="941832"/>
            <a:ext cx="310896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01498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63640" y="9966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Paraphrasing Attacks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897880" y="136245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Rephrasing harmful requests using synonyms to bypass keyword filters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806440" y="1965960"/>
            <a:ext cx="310896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3911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63640" y="2020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 Prompts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897880" y="23865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or hypothetical framings that override safety constraints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5806440" y="2990088"/>
            <a:ext cx="310896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63240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Attacks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897880" y="34107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escalation across conversation turns; each turn appears benign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5806440" y="4014216"/>
            <a:ext cx="3108960" cy="8961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08736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63640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Attacks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897880" y="44348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or Unicode substitutions that evade text-based filtering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OVER-REFUSAL PROBLEM &amp; DEFENCE-IN-DEPTH STRATEGY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14800" cy="42519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4114800" cy="411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OVER-REFUSAL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mechanisms incorrectly block legitimate requests because they superficially resemble harmful queries — creating a tension between safety and utility.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 blocks 'network security'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Flags academic cybersecurity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'Military operation' flagged as violence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Historical research blocked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advice blocked for 'harm' keyword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Prevents legitimate health info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640080"/>
            <a:ext cx="4251960" cy="4251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713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STRATEGY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4023360" cy="640080"/>
          </a:xfrm>
          <a:prstGeom prst="rect">
            <a:avLst/>
          </a:prstGeom>
          <a:solidFill>
            <a:srgbClr val="0F2E3D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70432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12080" y="1115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System Prompts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12080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persona, operational boundaries, and behavioural guidelines at model level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1856232"/>
            <a:ext cx="4023360" cy="640080"/>
          </a:xfrm>
          <a:prstGeom prst="rect">
            <a:avLst/>
          </a:prstGeom>
          <a:solidFill>
            <a:srgbClr val="0F2E3D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47672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12080" y="1892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Input Filtering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212080" y="2176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blocklists, regex patterns, injection detection before model sees the prompt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709160" y="2633472"/>
            <a:ext cx="4023360" cy="640080"/>
          </a:xfrm>
          <a:prstGeom prst="rect">
            <a:avLst/>
          </a:prstGeom>
          <a:solidFill>
            <a:srgbClr val="0F2E3D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24912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12080" y="2670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RLHF Alignment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212080" y="2953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human feedback to internalise helpful, harmless, honest behaviour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709160" y="3410712"/>
            <a:ext cx="4023360" cy="640080"/>
          </a:xfrm>
          <a:prstGeom prst="rect">
            <a:avLst/>
          </a:prstGeom>
          <a:solidFill>
            <a:srgbClr val="0F2E3D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502152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12080" y="3447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Output Validation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21208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detection, toxicity classification, and policy checks before response delivery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709160" y="4187952"/>
            <a:ext cx="4023360" cy="640080"/>
          </a:xfrm>
          <a:prstGeom prst="rect">
            <a:avLst/>
          </a:prstGeom>
          <a:solidFill>
            <a:srgbClr val="0F2E3D"/>
          </a:solidFill>
          <a:ln w="12700">
            <a:solidFill>
              <a:srgbClr val="005F73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79392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12080" y="4224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Human Oversight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212080" y="4507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human-in-the-loop review, continuous policy refinement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589520" y="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755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9692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Scan-Process-Scan architecture effectively intercepts common threats with 100% accuracy on test cases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529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12070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is the most robust AI safety strategy — no single mechanism is sufficient alone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14447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filters are essential infrastructure for responsible deployment, not optional enhancements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0078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" y="168249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classifiers outperform keyword filters: 97% True Positive vs 72% with much lower false positives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274320" y="22677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74320" y="2606040"/>
            <a:ext cx="41605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734056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31520" y="2660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Intent Analysis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731520" y="2944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pattern matching to genuine intent classification to reduce false positives/negatives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274320" y="3410712"/>
            <a:ext cx="41605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538728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" y="3465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Academic Filters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731520" y="37490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filters calibrated for educational contexts including academic integrity checks</a:t>
            </a:r>
            <a:endParaRPr lang="en-US" sz="850" dirty="0"/>
          </a:p>
        </p:txBody>
      </p:sp>
      <p:sp>
        <p:nvSpPr>
          <p:cNvPr id="24" name="Shape 16"/>
          <p:cNvSpPr/>
          <p:nvPr/>
        </p:nvSpPr>
        <p:spPr>
          <a:xfrm>
            <a:off x="274320" y="4215384"/>
            <a:ext cx="4160520" cy="685800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34340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1520" y="42702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Safety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731520" y="455371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guardrail systems to support Bengali, Hindi, and other Indian languages</a:t>
            </a:r>
            <a:endParaRPr lang="en-US" sz="850" dirty="0"/>
          </a:p>
        </p:txBody>
      </p:sp>
      <p:sp>
        <p:nvSpPr>
          <p:cNvPr id="28" name="Shape 19"/>
          <p:cNvSpPr/>
          <p:nvPr/>
        </p:nvSpPr>
        <p:spPr>
          <a:xfrm>
            <a:off x="4709160" y="2606040"/>
            <a:ext cx="411480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734056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166360" y="26609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Safety Learning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5166360" y="2944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safety intelligence across institutions without exposing private user data</a:t>
            </a:r>
            <a:endParaRPr lang="en-US" sz="850" dirty="0"/>
          </a:p>
        </p:txBody>
      </p:sp>
      <p:sp>
        <p:nvSpPr>
          <p:cNvPr id="32" name="Shape 22"/>
          <p:cNvSpPr/>
          <p:nvPr/>
        </p:nvSpPr>
        <p:spPr>
          <a:xfrm>
            <a:off x="4709160" y="3410712"/>
            <a:ext cx="4114800" cy="685800"/>
          </a:xfrm>
          <a:prstGeom prst="rect">
            <a:avLst/>
          </a:prstGeom>
          <a:solidFill>
            <a:srgbClr val="1B3A4B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538728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166360" y="3465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Safety Decisions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166360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users with clear explanations when requests are blocked for transparency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3337560"/>
            <a:ext cx="54864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493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77640" y="3493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Biswas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28800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77640" y="37490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BWU/BCA/23/224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28800" y="4005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77640" y="4005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23010346212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828800" y="4261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77640" y="4261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23013001069 of 2023-2024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828800" y="45171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977640" y="45171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Sciences, Brainware University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AI Safety Filters and Guardrails</dc:title>
  <dc:subject>PptxGenJS Presentation</dc:subject>
  <dc:creator>Rahul Biswas</dc:creator>
  <cp:lastModifiedBy>Rahul Biswas</cp:lastModifiedBy>
  <cp:revision>1</cp:revision>
  <dcterms:created xsi:type="dcterms:W3CDTF">2026-04-21T08:18:27Z</dcterms:created>
  <dcterms:modified xsi:type="dcterms:W3CDTF">2026-04-21T08:18:27Z</dcterms:modified>
</cp:coreProperties>
</file>